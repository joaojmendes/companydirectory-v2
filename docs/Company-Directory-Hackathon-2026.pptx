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 TITLE (show for ~10 seconds)</a:t>
            </a:r>
          </a:p>
          <a:p/>
          <a:p>
            <a:r>
              <a:t>SAY:</a:t>
            </a:r>
          </a:p>
          <a:p>
            <a:r>
              <a:t>"Hi everyone! I'm João Mendes, and this is Company Directory — an AI-powered people directory built entirely on the Microsoft 365 platform."</a:t>
            </a:r>
          </a:p>
          <a:p/>
          <a:p>
            <a:r>
              <a:t>TIPS:</a:t>
            </a:r>
          </a:p>
          <a:p>
            <a:r>
              <a:t>• Speak slowly, smile — this is the first impression.</a:t>
            </a:r>
          </a:p>
          <a:p>
            <a:r>
              <a:t>• Let the slide sit for 2-3 seconds before you start talking.</a:t>
            </a:r>
          </a:p>
          <a:p>
            <a:r>
              <a:t>• Keep your energy up — the viewer decides in the first 5 seconds whether to keep watching.</a:t>
            </a:r>
          </a:p>
          <a:p>
            <a:r>
              <a:t>• Don't read the slide — the audience can see it. Add your personality.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 OVERVIEW (show for ~15 seconds)</a:t>
            </a:r>
          </a:p>
          <a:p/>
          <a:p>
            <a:r>
              <a:t>SAY:</a:t>
            </a:r>
          </a:p>
          <a:p>
            <a:r>
              <a:t>"Company Directory solves a common problem — finding the right person in your organization, fast.</a:t>
            </a:r>
          </a:p>
          <a:p/>
          <a:p>
            <a:r>
              <a:t>You can browse employees in a visual Grid View or a compact List View, search using plain English powered by Azure OpenAI, explore the organization chart interactively, and take quick actions like starting a Teams chat or email — all from one web part.</a:t>
            </a:r>
          </a:p>
          <a:p/>
          <a:p>
            <a:r>
              <a:t>It works across SharePoint, Teams, Outlook, and Microsoft 365 — adapting to each host's theme."</a:t>
            </a:r>
          </a:p>
          <a:p/>
          <a:p>
            <a:r>
              <a:t>TIPS:</a:t>
            </a:r>
          </a:p>
          <a:p>
            <a:r>
              <a:t>• Point to the screenshot on the right if visible — guide the viewer's eye.</a:t>
            </a:r>
          </a:p>
          <a:p>
            <a:r>
              <a:t>• Read the bullet points only as prompts, don't read them word-for-word.</a:t>
            </a:r>
          </a:p>
          <a:p>
            <a:r>
              <a:t>• This is the "why" slide — make the audience care about the problem you're solving.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 GRID VIEW (show for ~15 seconds)</a:t>
            </a:r>
          </a:p>
          <a:p/>
          <a:p>
            <a:r>
              <a:t>SAY:</a:t>
            </a:r>
          </a:p>
          <a:p>
            <a:r>
              <a:t>"This is the employee directory in Grid View. Each card shows the person's photo, name, job title, department, and office location — all pulled live from Microsoft Graph.</a:t>
            </a:r>
          </a:p>
          <a:p/>
          <a:p>
            <a:r>
              <a:t>Cards load 100 at a time with infinite scroll, so there's no pagination to deal with. Just scroll and the next batch loads automatically."</a:t>
            </a:r>
          </a:p>
          <a:p/>
          <a:p>
            <a:r>
              <a:t>TRANSITION TO DEMO:</a:t>
            </a:r>
          </a:p>
          <a:p>
            <a:r>
              <a:t>After this slide you'll switch to the live browser — have it ready and loaded!</a:t>
            </a:r>
          </a:p>
          <a:p/>
          <a:p>
            <a:r>
              <a:t>TIPS:</a:t>
            </a:r>
          </a:p>
          <a:p>
            <a:r>
              <a:t>• This is the slide that should match what the viewer sees in the live demo next.</a:t>
            </a:r>
          </a:p>
          <a:p>
            <a:r>
              <a:t>• If you replaced the placeholder with an actual screenshot — briefly point out the cards.</a:t>
            </a:r>
          </a:p>
          <a:p>
            <a:r>
              <a:t>• Keep it short — the live demo will show this much better than a static image.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 TECH STACK (show for ~15-20 seconds)</a:t>
            </a:r>
          </a:p>
          <a:p/>
          <a:p>
            <a:r>
              <a:t>SAY:</a:t>
            </a:r>
          </a:p>
          <a:p>
            <a:r>
              <a:t>"Under the hood, Company Directory is built on the latest Microsoft 365 stack.</a:t>
            </a:r>
          </a:p>
          <a:p/>
          <a:p>
            <a:r>
              <a:t>SharePoint Framework 1.22.2 with the new Heft build toolchain replaces Gulp entirely. React 17 with functional components and hooks. Fluent UI version 9 — 100% Fluent 2 design tokens for a native Microsoft look.</a:t>
            </a:r>
          </a:p>
          <a:p/>
          <a:p>
            <a:r>
              <a:t>The AI layer uses Azure OpenAI to translate natural language into OData queries. Microsoft Graph provides live user profiles and org hierarchy. And Jotai with IndexedDB handles state management and local caching for fast navigation."</a:t>
            </a:r>
          </a:p>
          <a:p/>
          <a:p>
            <a:r>
              <a:t>TIPS:</a:t>
            </a:r>
          </a:p>
          <a:p>
            <a:r>
              <a:t>• Don't read every card — hit the highlights: SPFx 1.22.2 (Heft), Azure OpenAI, and Fluent v9.</a:t>
            </a:r>
          </a:p>
          <a:p>
            <a:r>
              <a:t>• If short on time, point to 2-3 cards and say "these are the key building blocks."</a:t>
            </a:r>
          </a:p>
          <a:p>
            <a:r>
              <a:t>• The judges want to see modern tech choices — emphasize Heft toolchain and AI integration.</a:t>
            </a:r>
          </a:p>
          <a:p>
            <a:r>
              <a:t>• This is a good place to mention: "zero Gulp — fully Heft-based build" if you want to impress.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 TRANSITION TO DEMO (show for ~5 seconds)</a:t>
            </a:r>
          </a:p>
          <a:p/>
          <a:p>
            <a:r>
              <a:t>SAY:</a:t>
            </a:r>
          </a:p>
          <a:p>
            <a:r>
              <a:t>"Now let's see it in action."</a:t>
            </a:r>
          </a:p>
          <a:p/>
          <a:p>
            <a:r>
              <a:t>ACTION:</a:t>
            </a:r>
          </a:p>
          <a:p>
            <a:r>
              <a:t>• Pause for 2 seconds after saying the line.</a:t>
            </a:r>
          </a:p>
          <a:p>
            <a:r>
              <a:t>• Switch to the browser tab with SharePoint already loaded.</a:t>
            </a:r>
          </a:p>
          <a:p>
            <a:r>
              <a:t>• Make sure the Grid View is visible with employee cards.</a:t>
            </a:r>
          </a:p>
          <a:p>
            <a:r>
              <a:t>• Start the live demo — follow the Video Script from Segment 1 onwards.</a:t>
            </a:r>
          </a:p>
          <a:p/>
          <a:p>
            <a:r>
              <a:t>DEMO ORDER (from HACKATHON_VIDEO_SCRIPT.md):</a:t>
            </a:r>
          </a:p>
          <a:p>
            <a:r>
              <a:t>1. Grid View — scroll down to show infinite scroll</a:t>
            </a:r>
          </a:p>
          <a:p>
            <a:r>
              <a:t>2. Click 3-dot menu — show chat, email, call actions</a:t>
            </a:r>
          </a:p>
          <a:p>
            <a:r>
              <a:t>3. Switch to List View — show data grid with columns</a:t>
            </a:r>
          </a:p>
          <a:p>
            <a:r>
              <a:t>4. AI Search — type "Find all engineers in Porto"</a:t>
            </a:r>
          </a:p>
          <a:p>
            <a:r>
              <a:t>5. AI Search — type "Managers in the Marketing department"</a:t>
            </a:r>
          </a:p>
          <a:p>
            <a:r>
              <a:t>6. AI Search — type "Guest users"</a:t>
            </a:r>
          </a:p>
          <a:p>
            <a:r>
              <a:t>7. Org Chart — show top-level, drill into a manager, use UserPicker</a:t>
            </a:r>
          </a:p>
          <a:p>
            <a:r>
              <a:t>8. Close — summarize tech stack, multi-host support, thank the viewer</a:t>
            </a:r>
          </a:p>
          <a:p/>
          <a:p>
            <a:r>
              <a:t>TIPS:</a:t>
            </a:r>
          </a:p>
          <a:p>
            <a:r>
              <a:t>• Keep the transition smooth — don't fumble with tabs.</a:t>
            </a:r>
          </a:p>
          <a:p>
            <a:r>
              <a:t>• Use Cmd+Tab or have the browser as the next window.</a:t>
            </a:r>
          </a:p>
          <a:p>
            <a:r>
              <a:t>• Total demo target: ~3 minutes 45 seconds.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 CONCLUSION (show for ~10-15 seconds)</a:t>
            </a:r>
          </a:p>
          <a:p/>
          <a:p>
            <a:r>
              <a:t>SAY:</a:t>
            </a:r>
          </a:p>
          <a:p>
            <a:r>
              <a:t>"And that's Company Directory — an AI-powered people directory built entirely on Microsoft 365.</a:t>
            </a:r>
          </a:p>
          <a:p/>
          <a:p>
            <a:r>
              <a:t>Thank you so much for watching! If you'd like to try it out, the source code is on GitHub. Feel free to connect with me on LinkedIn or follow me on X for more Microsoft 365 dev content.</a:t>
            </a:r>
          </a:p>
          <a:p/>
          <a:p>
            <a:r>
              <a:t>Thanks again, and happy hacking!"</a:t>
            </a:r>
          </a:p>
          <a:p/>
          <a:p>
            <a:r>
              <a:t>TIPS:</a:t>
            </a:r>
          </a:p>
          <a:p>
            <a:r>
              <a:t>• Smile and speak with energy — leave a positive lasting impression.</a:t>
            </a:r>
          </a:p>
          <a:p>
            <a:r>
              <a:t>• Point out the social links on screen so viewers know where to find you.</a:t>
            </a:r>
          </a:p>
          <a:p>
            <a:r>
              <a:t>• Keep it brief — 10-15 seconds max. Don't repeat the whole demo.</a:t>
            </a:r>
          </a:p>
          <a:p>
            <a:r>
              <a:t>• End confidently — a clear closing is better than trailing off.</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1B1F"/>
        </a:solidFill>
        <a:effectLst/>
      </p:bgPr>
    </p:bg>
    <p:spTree>
      <p:nvGrpSpPr>
        <p:cNvPr id="1" name=""/>
        <p:cNvGrpSpPr/>
        <p:nvPr/>
      </p:nvGrpSpPr>
      <p:grpSpPr/>
      <p:sp>
        <p:nvSpPr>
          <p:cNvPr id="9" name="Oval 8"/>
          <p:cNvSpPr/>
          <p:nvPr/>
        </p:nvSpPr>
        <p:spPr>
          <a:xfrm>
            <a:off x="7772400" y="457200"/>
            <a:ext cx="5029200" cy="5029200"/>
          </a:xfrm>
          <a:prstGeom prst="ellipse">
            <a:avLst/>
          </a:prstGeom>
          <a:solidFill>
            <a:srgbClr val="2222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503920" y="1188720"/>
            <a:ext cx="3566160" cy="3566160"/>
          </a:xfrm>
          <a:prstGeom prst="ellipse">
            <a:avLst/>
          </a:prstGeom>
          <a:solidFill>
            <a:srgbClr val="282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Rectangle 1"/>
          <p:cNvSpPr/>
          <p:nvPr/>
        </p:nvSpPr>
        <p:spPr>
          <a:xfrm>
            <a:off x="0" y="0"/>
            <a:ext cx="12191695" cy="54864"/>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371600"/>
            <a:ext cx="38100" cy="36576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645920"/>
            <a:ext cx="7315200" cy="1097280"/>
          </a:xfrm>
          <a:prstGeom prst="rect">
            <a:avLst/>
          </a:prstGeom>
          <a:noFill/>
        </p:spPr>
        <p:txBody>
          <a:bodyPr wrap="square">
            <a:spAutoFit/>
          </a:bodyPr>
          <a:lstStyle/>
          <a:p>
            <a:pPr algn="l">
              <a:spcAft>
                <a:spcPts val="0"/>
              </a:spcAft>
              <a:defRPr sz="5400" b="1">
                <a:solidFill>
                  <a:srgbClr val="FFFFFF"/>
                </a:solidFill>
                <a:latin typeface="Segoe UI Light"/>
              </a:defRPr>
            </a:pPr>
            <a:r>
              <a:t>Company Directory</a:t>
            </a:r>
          </a:p>
        </p:txBody>
      </p:sp>
      <p:sp>
        <p:nvSpPr>
          <p:cNvPr id="5" name="TextBox 4"/>
          <p:cNvSpPr txBox="1"/>
          <p:nvPr/>
        </p:nvSpPr>
        <p:spPr>
          <a:xfrm>
            <a:off x="1097280" y="2834640"/>
            <a:ext cx="7315200" cy="1371600"/>
          </a:xfrm>
          <a:prstGeom prst="rect">
            <a:avLst/>
          </a:prstGeom>
          <a:noFill/>
        </p:spPr>
        <p:txBody>
          <a:bodyPr wrap="square">
            <a:spAutoFit/>
          </a:bodyPr>
          <a:lstStyle/>
          <a:p>
            <a:pPr algn="l">
              <a:spcAft>
                <a:spcPts val="1600"/>
              </a:spcAft>
              <a:defRPr sz="2400" b="0">
                <a:solidFill>
                  <a:srgbClr val="47A1F5"/>
                </a:solidFill>
                <a:latin typeface="Segoe UI"/>
              </a:defRPr>
            </a:pPr>
            <a:r>
              <a:t>AI-Powered People Directory for Microsoft 365</a:t>
            </a:r>
          </a:p>
          <a:p>
            <a:pPr algn="l">
              <a:spcAft>
                <a:spcPts val="2400"/>
              </a:spcAft>
              <a:defRPr sz="1600" b="0">
                <a:solidFill>
                  <a:srgbClr val="B0B0B8"/>
                </a:solidFill>
                <a:latin typeface="Segoe UI"/>
              </a:defRPr>
            </a:pPr>
            <a:r>
              <a:t>Natural language search  •  Interactive org chart  •  Fluent UI v9</a:t>
            </a:r>
          </a:p>
        </p:txBody>
      </p:sp>
      <p:sp>
        <p:nvSpPr>
          <p:cNvPr id="6" name="TextBox 5"/>
          <p:cNvSpPr txBox="1"/>
          <p:nvPr/>
        </p:nvSpPr>
        <p:spPr>
          <a:xfrm>
            <a:off x="1097280" y="4023360"/>
            <a:ext cx="5486400" cy="457200"/>
          </a:xfrm>
          <a:prstGeom prst="rect">
            <a:avLst/>
          </a:prstGeom>
          <a:noFill/>
        </p:spPr>
        <p:txBody>
          <a:bodyPr wrap="square">
            <a:spAutoFit/>
          </a:bodyPr>
          <a:lstStyle/>
          <a:p>
            <a:pPr algn="l">
              <a:spcAft>
                <a:spcPts val="0"/>
              </a:spcAft>
              <a:defRPr sz="1800" b="1">
                <a:solidFill>
                  <a:srgbClr val="FFFFFF"/>
                </a:solidFill>
                <a:latin typeface="Segoe UI"/>
              </a:defRPr>
            </a:pPr>
            <a:r>
              <a:t>João Mendes</a:t>
            </a:r>
          </a:p>
        </p:txBody>
      </p:sp>
      <p:sp>
        <p:nvSpPr>
          <p:cNvPr id="7" name="TextBox 6"/>
          <p:cNvSpPr txBox="1"/>
          <p:nvPr/>
        </p:nvSpPr>
        <p:spPr>
          <a:xfrm>
            <a:off x="1097280" y="4434840"/>
            <a:ext cx="5486400" cy="457200"/>
          </a:xfrm>
          <a:prstGeom prst="rect">
            <a:avLst/>
          </a:prstGeom>
          <a:noFill/>
        </p:spPr>
        <p:txBody>
          <a:bodyPr wrap="square">
            <a:spAutoFit/>
          </a:bodyPr>
          <a:lstStyle/>
          <a:p>
            <a:pPr algn="l">
              <a:spcAft>
                <a:spcPts val="0"/>
              </a:spcAft>
              <a:defRPr sz="1400" b="0">
                <a:solidFill>
                  <a:srgbClr val="6E6E78"/>
                </a:solidFill>
                <a:latin typeface="Segoe UI"/>
              </a:defRPr>
            </a:pPr>
            <a:r>
              <a:t>SharePoint &amp; Microsoft 365 Developer</a:t>
            </a:r>
          </a:p>
        </p:txBody>
      </p:sp>
      <p:sp>
        <p:nvSpPr>
          <p:cNvPr id="8" name="Rounded Rectangle 7"/>
          <p:cNvSpPr/>
          <p:nvPr/>
        </p:nvSpPr>
        <p:spPr>
          <a:xfrm>
            <a:off x="1097280" y="5120640"/>
            <a:ext cx="2926080" cy="320040"/>
          </a:xfrm>
          <a:prstGeom prst="roundRect">
            <a:avLst>
              <a:gd name="adj" fmla="val 35000"/>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wrap="none" lIns="72000" rIns="72000" tIns="0" bIns="0"/>
          <a:lstStyle/>
          <a:p>
            <a:pPr algn="ctr">
              <a:spcBef>
                <a:spcPts val="0"/>
              </a:spcBef>
              <a:spcAft>
                <a:spcPts val="0"/>
              </a:spcAft>
              <a:defRPr sz="1200" b="1">
                <a:solidFill>
                  <a:srgbClr val="FFFFFF"/>
                </a:solidFill>
                <a:latin typeface="Segoe UI Semibold"/>
              </a:defRPr>
            </a:pPr>
            <a:r>
              <a:t>SHAREPOINT HACKATHON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B1B1F"/>
        </a:solidFill>
        <a:effectLst/>
      </p:bgPr>
    </p:bg>
    <p:spTree>
      <p:nvGrpSpPr>
        <p:cNvPr id="1" name=""/>
        <p:cNvGrpSpPr/>
        <p:nvPr/>
      </p:nvGrpSpPr>
      <p:grpSpPr/>
      <p:sp>
        <p:nvSpPr>
          <p:cNvPr id="2" name="Rectangle 1"/>
          <p:cNvSpPr/>
          <p:nvPr/>
        </p:nvSpPr>
        <p:spPr>
          <a:xfrm>
            <a:off x="0" y="0"/>
            <a:ext cx="12191695" cy="36576"/>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2743200" cy="365760"/>
          </a:xfrm>
          <a:prstGeom prst="rect">
            <a:avLst/>
          </a:prstGeom>
          <a:noFill/>
        </p:spPr>
        <p:txBody>
          <a:bodyPr wrap="square">
            <a:spAutoFit/>
          </a:bodyPr>
          <a:lstStyle/>
          <a:p>
            <a:pPr algn="l">
              <a:spcAft>
                <a:spcPts val="0"/>
              </a:spcAft>
              <a:defRPr sz="1200" b="1">
                <a:solidFill>
                  <a:srgbClr val="0078D4"/>
                </a:solidFill>
                <a:latin typeface="Segoe UI Semibold"/>
              </a:defRPr>
            </a:pPr>
            <a:r>
              <a:t>OVERVIEW</a:t>
            </a:r>
          </a:p>
        </p:txBody>
      </p:sp>
      <p:sp>
        <p:nvSpPr>
          <p:cNvPr id="4" name="TextBox 3"/>
          <p:cNvSpPr txBox="1"/>
          <p:nvPr/>
        </p:nvSpPr>
        <p:spPr>
          <a:xfrm>
            <a:off x="731520" y="1097280"/>
            <a:ext cx="4114800" cy="640080"/>
          </a:xfrm>
          <a:prstGeom prst="rect">
            <a:avLst/>
          </a:prstGeom>
          <a:noFill/>
        </p:spPr>
        <p:txBody>
          <a:bodyPr wrap="square">
            <a:spAutoFit/>
          </a:bodyPr>
          <a:lstStyle/>
          <a:p>
            <a:pPr algn="l">
              <a:spcAft>
                <a:spcPts val="0"/>
              </a:spcAft>
              <a:defRPr sz="3200" b="1">
                <a:solidFill>
                  <a:srgbClr val="FFFFFF"/>
                </a:solidFill>
                <a:latin typeface="Segoe UI"/>
              </a:defRPr>
            </a:pPr>
            <a:r>
              <a:t>Your People,</a:t>
            </a:r>
            <a:br/>
            <a:r>
              <a:t>One Search Away</a:t>
            </a:r>
          </a:p>
        </p:txBody>
      </p:sp>
      <p:sp>
        <p:nvSpPr>
          <p:cNvPr id="5" name="TextBox 4"/>
          <p:cNvSpPr txBox="1"/>
          <p:nvPr/>
        </p:nvSpPr>
        <p:spPr>
          <a:xfrm>
            <a:off x="731520" y="2011680"/>
            <a:ext cx="4389120" cy="3200400"/>
          </a:xfrm>
          <a:prstGeom prst="rect">
            <a:avLst/>
          </a:prstGeom>
          <a:noFill/>
        </p:spPr>
        <p:txBody>
          <a:bodyPr wrap="square">
            <a:spAutoFit/>
          </a:bodyPr>
          <a:lstStyle/>
          <a:p>
            <a:pPr algn="l">
              <a:spcAft>
                <a:spcPts val="1200"/>
              </a:spcAft>
              <a:defRPr sz="1000" b="0">
                <a:solidFill>
                  <a:srgbClr val="1B1B1F"/>
                </a:solidFill>
                <a:latin typeface="Segoe UI"/>
              </a:defRPr>
            </a:pPr>
          </a:p>
          <a:p>
            <a:pPr algn="l">
              <a:spcAft>
                <a:spcPts val="1000"/>
              </a:spcAft>
              <a:defRPr sz="1500" b="0">
                <a:solidFill>
                  <a:srgbClr val="B0B0B8"/>
                </a:solidFill>
                <a:latin typeface="Segoe UI"/>
              </a:defRPr>
            </a:pPr>
            <a:r>
              <a:t>▸  Browse employees in Grid or List view</a:t>
            </a:r>
          </a:p>
          <a:p>
            <a:pPr algn="l">
              <a:spcAft>
                <a:spcPts val="1000"/>
              </a:spcAft>
              <a:defRPr sz="1500" b="0">
                <a:solidFill>
                  <a:srgbClr val="B0B0B8"/>
                </a:solidFill>
                <a:latin typeface="Segoe UI"/>
              </a:defRPr>
            </a:pPr>
            <a:r>
              <a:t>▸  AI search — ask in plain English</a:t>
            </a:r>
          </a:p>
          <a:p>
            <a:pPr algn="l">
              <a:spcAft>
                <a:spcPts val="1000"/>
              </a:spcAft>
              <a:defRPr sz="1500" b="0">
                <a:solidFill>
                  <a:srgbClr val="B0B0B8"/>
                </a:solidFill>
                <a:latin typeface="Segoe UI"/>
              </a:defRPr>
            </a:pPr>
            <a:r>
              <a:t>▸  Interactive organization chart</a:t>
            </a:r>
          </a:p>
          <a:p>
            <a:pPr algn="l">
              <a:spcAft>
                <a:spcPts val="1000"/>
              </a:spcAft>
              <a:defRPr sz="1500" b="0">
                <a:solidFill>
                  <a:srgbClr val="B0B0B8"/>
                </a:solidFill>
                <a:latin typeface="Segoe UI"/>
              </a:defRPr>
            </a:pPr>
            <a:r>
              <a:t>▸  Quick actions: chat, email, call, video</a:t>
            </a:r>
          </a:p>
          <a:p>
            <a:pPr algn="l">
              <a:spcAft>
                <a:spcPts val="1000"/>
              </a:spcAft>
              <a:defRPr sz="1500" b="0">
                <a:solidFill>
                  <a:srgbClr val="B0B0B8"/>
                </a:solidFill>
                <a:latin typeface="Segoe UI"/>
              </a:defRPr>
            </a:pPr>
            <a:r>
              <a:t>▸  Works in SharePoint, Teams, Outlook &amp; Office</a:t>
            </a:r>
          </a:p>
          <a:p>
            <a:pPr algn="l">
              <a:spcAft>
                <a:spcPts val="1000"/>
              </a:spcAft>
              <a:defRPr sz="1500" b="0">
                <a:solidFill>
                  <a:srgbClr val="B0B0B8"/>
                </a:solidFill>
                <a:latin typeface="Segoe UI"/>
              </a:defRPr>
            </a:pPr>
            <a:r>
              <a:t>▸  Infinite scroll with IndexedDB caching</a:t>
            </a:r>
          </a:p>
        </p:txBody>
      </p:sp>
      <p:sp>
        <p:nvSpPr>
          <p:cNvPr id="6" name="Rounded Rectangle 5"/>
          <p:cNvSpPr/>
          <p:nvPr/>
        </p:nvSpPr>
        <p:spPr>
          <a:xfrm>
            <a:off x="5252720" y="680720"/>
            <a:ext cx="6502400" cy="5405120"/>
          </a:xfrm>
          <a:prstGeom prst="roundRect">
            <a:avLst>
              <a:gd name="adj" fmla="val 2000"/>
            </a:avLst>
          </a:prstGeom>
          <a:solidFill>
            <a:srgbClr val="303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303520" y="731520"/>
            <a:ext cx="6400800" cy="5303520"/>
          </a:xfrm>
          <a:prstGeom prst="roundRect">
            <a:avLst/>
          </a:prstGeom>
          <a:solidFill>
            <a:srgbClr val="24242A"/>
          </a:solidFill>
          <a:ln w="12700">
            <a:solidFill>
              <a:srgbClr val="6E6E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75120" y="2743200"/>
            <a:ext cx="3657600" cy="914400"/>
          </a:xfrm>
          <a:prstGeom prst="rect">
            <a:avLst/>
          </a:prstGeom>
          <a:noFill/>
        </p:spPr>
        <p:txBody>
          <a:bodyPr wrap="square">
            <a:spAutoFit/>
          </a:bodyPr>
          <a:lstStyle/>
          <a:p>
            <a:pPr algn="ctr">
              <a:spcAft>
                <a:spcPts val="0"/>
              </a:spcAft>
              <a:defRPr sz="1600" b="0">
                <a:solidFill>
                  <a:srgbClr val="6E6E78"/>
                </a:solidFill>
                <a:latin typeface="Segoe UI"/>
              </a:defRPr>
            </a:pPr>
            <a:r>
              <a:t>[ Insert Grid View Screenshot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B1B1F"/>
        </a:solidFill>
        <a:effectLst/>
      </p:bgPr>
    </p:bg>
    <p:spTree>
      <p:nvGrpSpPr>
        <p:cNvPr id="1" name=""/>
        <p:cNvGrpSpPr/>
        <p:nvPr/>
      </p:nvGrpSpPr>
      <p:grpSpPr/>
      <p:sp>
        <p:nvSpPr>
          <p:cNvPr id="2" name="Rectangle 1"/>
          <p:cNvSpPr/>
          <p:nvPr/>
        </p:nvSpPr>
        <p:spPr>
          <a:xfrm>
            <a:off x="0" y="0"/>
            <a:ext cx="12191695" cy="36576"/>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2743200" cy="365760"/>
          </a:xfrm>
          <a:prstGeom prst="rect">
            <a:avLst/>
          </a:prstGeom>
          <a:noFill/>
        </p:spPr>
        <p:txBody>
          <a:bodyPr wrap="square">
            <a:spAutoFit/>
          </a:bodyPr>
          <a:lstStyle/>
          <a:p>
            <a:pPr algn="l">
              <a:spcAft>
                <a:spcPts val="0"/>
              </a:spcAft>
              <a:defRPr sz="1200" b="1">
                <a:solidFill>
                  <a:srgbClr val="0078D4"/>
                </a:solidFill>
                <a:latin typeface="Segoe UI Semibold"/>
              </a:defRPr>
            </a:pPr>
            <a:r>
              <a:t>GRID VIEW</a:t>
            </a:r>
          </a:p>
        </p:txBody>
      </p:sp>
      <p:sp>
        <p:nvSpPr>
          <p:cNvPr id="4" name="TextBox 3"/>
          <p:cNvSpPr txBox="1"/>
          <p:nvPr/>
        </p:nvSpPr>
        <p:spPr>
          <a:xfrm>
            <a:off x="731520" y="1005840"/>
            <a:ext cx="4114800" cy="640080"/>
          </a:xfrm>
          <a:prstGeom prst="rect">
            <a:avLst/>
          </a:prstGeom>
          <a:noFill/>
        </p:spPr>
        <p:txBody>
          <a:bodyPr wrap="square">
            <a:spAutoFit/>
          </a:bodyPr>
          <a:lstStyle/>
          <a:p>
            <a:pPr algn="l">
              <a:spcAft>
                <a:spcPts val="0"/>
              </a:spcAft>
              <a:defRPr sz="3000" b="1">
                <a:solidFill>
                  <a:srgbClr val="FFFFFF"/>
                </a:solidFill>
                <a:latin typeface="Segoe UI"/>
              </a:defRPr>
            </a:pPr>
            <a:r>
              <a:t>Visual Employee</a:t>
            </a:r>
            <a:br/>
            <a:r>
              <a:t>Directory</a:t>
            </a:r>
          </a:p>
        </p:txBody>
      </p:sp>
      <p:sp>
        <p:nvSpPr>
          <p:cNvPr id="5" name="TextBox 4"/>
          <p:cNvSpPr txBox="1"/>
          <p:nvPr/>
        </p:nvSpPr>
        <p:spPr>
          <a:xfrm>
            <a:off x="731520" y="1920240"/>
            <a:ext cx="4114800" cy="3474720"/>
          </a:xfrm>
          <a:prstGeom prst="rect">
            <a:avLst/>
          </a:prstGeom>
          <a:noFill/>
        </p:spPr>
        <p:txBody>
          <a:bodyPr wrap="square">
            <a:spAutoFit/>
          </a:bodyPr>
          <a:lstStyle/>
          <a:p>
            <a:pPr algn="l">
              <a:spcAft>
                <a:spcPts val="1000"/>
              </a:spcAft>
              <a:defRPr sz="800" b="0">
                <a:solidFill>
                  <a:srgbClr val="1B1B1F"/>
                </a:solidFill>
                <a:latin typeface="Segoe UI"/>
              </a:defRPr>
            </a:pPr>
          </a:p>
          <a:p>
            <a:pPr algn="l">
              <a:spcAft>
                <a:spcPts val="1400"/>
              </a:spcAft>
              <a:defRPr sz="1500" b="0">
                <a:solidFill>
                  <a:srgbClr val="B0B0B8"/>
                </a:solidFill>
                <a:latin typeface="Segoe UI"/>
              </a:defRPr>
            </a:pPr>
            <a:r>
              <a:t>Each card displays the employee's photo, name, job title, department, and office — pulled live from Microsoft Graph.</a:t>
            </a:r>
          </a:p>
          <a:p>
            <a:pPr algn="l">
              <a:spcAft>
                <a:spcPts val="800"/>
              </a:spcAft>
              <a:defRPr sz="1400" b="0">
                <a:solidFill>
                  <a:srgbClr val="B0B0B8"/>
                </a:solidFill>
                <a:latin typeface="Segoe UI"/>
              </a:defRPr>
            </a:pPr>
            <a:r>
              <a:t>▸  Infinite scroll — loads 100 users at a time</a:t>
            </a:r>
          </a:p>
          <a:p>
            <a:pPr algn="l">
              <a:spcAft>
                <a:spcPts val="800"/>
              </a:spcAft>
              <a:defRPr sz="1400" b="0">
                <a:solidFill>
                  <a:srgbClr val="B0B0B8"/>
                </a:solidFill>
                <a:latin typeface="Segoe UI"/>
              </a:defRPr>
            </a:pPr>
            <a:r>
              <a:t>▸  No pagination — just scroll for more</a:t>
            </a:r>
          </a:p>
          <a:p>
            <a:pPr algn="l">
              <a:spcAft>
                <a:spcPts val="800"/>
              </a:spcAft>
              <a:defRPr sz="1400" b="0">
                <a:solidFill>
                  <a:srgbClr val="B0B0B8"/>
                </a:solidFill>
                <a:latin typeface="Segoe UI"/>
              </a:defRPr>
            </a:pPr>
            <a:r>
              <a:t>▸  IndexedDB caching for instant revisits</a:t>
            </a:r>
          </a:p>
          <a:p>
            <a:pPr algn="l">
              <a:spcAft>
                <a:spcPts val="800"/>
              </a:spcAft>
              <a:defRPr sz="1400" b="0">
                <a:solidFill>
                  <a:srgbClr val="B0B0B8"/>
                </a:solidFill>
                <a:latin typeface="Segoe UI"/>
              </a:defRPr>
            </a:pPr>
            <a:r>
              <a:t>▸  Responsive layout adapts to any screen</a:t>
            </a:r>
          </a:p>
          <a:p>
            <a:pPr algn="l">
              <a:spcAft>
                <a:spcPts val="800"/>
              </a:spcAft>
              <a:defRPr sz="1400" b="0">
                <a:solidFill>
                  <a:srgbClr val="B0B0B8"/>
                </a:solidFill>
                <a:latin typeface="Segoe UI"/>
              </a:defRPr>
            </a:pPr>
            <a:r>
              <a:t>▸  Click a card to view full profile &amp; org chart</a:t>
            </a:r>
          </a:p>
        </p:txBody>
      </p:sp>
      <p:sp>
        <p:nvSpPr>
          <p:cNvPr id="6" name="Rounded Rectangle 5"/>
          <p:cNvSpPr/>
          <p:nvPr/>
        </p:nvSpPr>
        <p:spPr>
          <a:xfrm>
            <a:off x="5303520" y="822960"/>
            <a:ext cx="6400800" cy="5029200"/>
          </a:xfrm>
          <a:prstGeom prst="roundRect">
            <a:avLst>
              <a:gd name="adj" fmla="val 1500"/>
            </a:avLst>
          </a:prstGeom>
          <a:solidFill>
            <a:srgbClr val="24242A"/>
          </a:solidFill>
          <a:ln w="12700">
            <a:solidFill>
              <a:srgbClr val="3A3A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75120" y="2926080"/>
            <a:ext cx="3657600" cy="914400"/>
          </a:xfrm>
          <a:prstGeom prst="rect">
            <a:avLst/>
          </a:prstGeom>
          <a:noFill/>
        </p:spPr>
        <p:txBody>
          <a:bodyPr wrap="square">
            <a:spAutoFit/>
          </a:bodyPr>
          <a:lstStyle/>
          <a:p>
            <a:pPr algn="ctr">
              <a:spcAft>
                <a:spcPts val="0"/>
              </a:spcAft>
              <a:defRPr sz="1800" b="0">
                <a:solidFill>
                  <a:srgbClr val="6E6E78"/>
                </a:solidFill>
                <a:latin typeface="Segoe UI"/>
              </a:defRPr>
            </a:pPr>
            <a:r>
              <a:t>[ Insert Grid View Screenshot Here ]</a:t>
            </a:r>
          </a:p>
        </p:txBody>
      </p:sp>
      <p:sp>
        <p:nvSpPr>
          <p:cNvPr id="8" name="Rectangle 7"/>
          <p:cNvSpPr/>
          <p:nvPr/>
        </p:nvSpPr>
        <p:spPr>
          <a:xfrm>
            <a:off x="0" y="6126480"/>
            <a:ext cx="12191695" cy="731520"/>
          </a:xfrm>
          <a:prstGeom prst="rect">
            <a:avLst/>
          </a:prstGeom>
          <a:solidFill>
            <a:srgbClr val="2424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6217920"/>
            <a:ext cx="10058400" cy="548640"/>
          </a:xfrm>
          <a:prstGeom prst="rect">
            <a:avLst/>
          </a:prstGeom>
          <a:noFill/>
        </p:spPr>
        <p:txBody>
          <a:bodyPr wrap="square">
            <a:spAutoFit/>
          </a:bodyPr>
          <a:lstStyle/>
          <a:p>
            <a:pPr algn="l">
              <a:spcAft>
                <a:spcPts val="400"/>
              </a:spcAft>
              <a:defRPr sz="1300" b="0">
                <a:solidFill>
                  <a:srgbClr val="B0B0B8"/>
                </a:solidFill>
                <a:latin typeface="Segoe UI"/>
              </a:defRPr>
            </a:pPr>
            <a:r>
              <a:t>Employee cards loaded live from Microsoft Graph  •  Infinite scroll (100 at a time)  •  Name, title, department, office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B1B1F"/>
        </a:solidFill>
        <a:effectLst/>
      </p:bgPr>
    </p:bg>
    <p:spTree>
      <p:nvGrpSpPr>
        <p:cNvPr id="1" name=""/>
        <p:cNvGrpSpPr/>
        <p:nvPr/>
      </p:nvGrpSpPr>
      <p:grpSpPr/>
      <p:sp>
        <p:nvSpPr>
          <p:cNvPr id="2" name="Rectangle 1"/>
          <p:cNvSpPr/>
          <p:nvPr/>
        </p:nvSpPr>
        <p:spPr>
          <a:xfrm>
            <a:off x="0" y="0"/>
            <a:ext cx="12191695" cy="36576"/>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7315200" cy="731520"/>
          </a:xfrm>
          <a:prstGeom prst="rect">
            <a:avLst/>
          </a:prstGeom>
          <a:noFill/>
        </p:spPr>
        <p:txBody>
          <a:bodyPr wrap="square">
            <a:spAutoFit/>
          </a:bodyPr>
          <a:lstStyle/>
          <a:p>
            <a:pPr algn="l">
              <a:spcAft>
                <a:spcPts val="0"/>
              </a:spcAft>
              <a:defRPr sz="3600" b="1">
                <a:solidFill>
                  <a:srgbClr val="FFFFFF"/>
                </a:solidFill>
                <a:latin typeface="Segoe UI"/>
              </a:defRPr>
            </a:pPr>
            <a:r>
              <a:t>Built on Modern Microsoft 365</a:t>
            </a:r>
          </a:p>
        </p:txBody>
      </p:sp>
      <p:sp>
        <p:nvSpPr>
          <p:cNvPr id="4" name="TextBox 3"/>
          <p:cNvSpPr txBox="1"/>
          <p:nvPr/>
        </p:nvSpPr>
        <p:spPr>
          <a:xfrm>
            <a:off x="731520" y="1280160"/>
            <a:ext cx="9144000" cy="457200"/>
          </a:xfrm>
          <a:prstGeom prst="rect">
            <a:avLst/>
          </a:prstGeom>
          <a:noFill/>
        </p:spPr>
        <p:txBody>
          <a:bodyPr wrap="square">
            <a:spAutoFit/>
          </a:bodyPr>
          <a:lstStyle/>
          <a:p>
            <a:pPr algn="l">
              <a:spcAft>
                <a:spcPts val="0"/>
              </a:spcAft>
              <a:defRPr sz="1600" b="0">
                <a:solidFill>
                  <a:srgbClr val="B0B0B8"/>
                </a:solidFill>
                <a:latin typeface="Segoe UI"/>
              </a:defRPr>
            </a:pPr>
            <a:r>
              <a:t>Enterprise-grade architecture with the latest SharePoint Framework</a:t>
            </a:r>
          </a:p>
        </p:txBody>
      </p:sp>
      <p:sp>
        <p:nvSpPr>
          <p:cNvPr id="5" name="Rectangle 4"/>
          <p:cNvSpPr/>
          <p:nvPr/>
        </p:nvSpPr>
        <p:spPr>
          <a:xfrm>
            <a:off x="731520" y="1920240"/>
            <a:ext cx="2286000" cy="381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2377440"/>
            <a:ext cx="3383280" cy="1645920"/>
          </a:xfrm>
          <a:prstGeom prst="roundRect">
            <a:avLst>
              <a:gd name="adj" fmla="val 6000"/>
            </a:avLst>
          </a:prstGeom>
          <a:solidFill>
            <a:srgbClr val="24242A"/>
          </a:solidFill>
          <a:ln w="12700">
            <a:solidFill>
              <a:srgbClr val="3A3A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07720" y="2415540"/>
            <a:ext cx="457200" cy="381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560320"/>
            <a:ext cx="3017520" cy="365760"/>
          </a:xfrm>
          <a:prstGeom prst="rect">
            <a:avLst/>
          </a:prstGeom>
          <a:noFill/>
        </p:spPr>
        <p:txBody>
          <a:bodyPr wrap="square">
            <a:spAutoFit/>
          </a:bodyPr>
          <a:lstStyle/>
          <a:p>
            <a:pPr algn="l">
              <a:spcAft>
                <a:spcPts val="0"/>
              </a:spcAft>
              <a:defRPr sz="1800" b="1">
                <a:solidFill>
                  <a:srgbClr val="FFFFFF"/>
                </a:solidFill>
                <a:latin typeface="Segoe UI"/>
              </a:defRPr>
            </a:pPr>
            <a:r>
              <a:t>SPFx 1.22.2</a:t>
            </a:r>
          </a:p>
        </p:txBody>
      </p:sp>
      <p:sp>
        <p:nvSpPr>
          <p:cNvPr id="9" name="TextBox 8"/>
          <p:cNvSpPr txBox="1"/>
          <p:nvPr/>
        </p:nvSpPr>
        <p:spPr>
          <a:xfrm>
            <a:off x="914400" y="2880360"/>
            <a:ext cx="3017520" cy="274320"/>
          </a:xfrm>
          <a:prstGeom prst="rect">
            <a:avLst/>
          </a:prstGeom>
          <a:noFill/>
        </p:spPr>
        <p:txBody>
          <a:bodyPr wrap="square">
            <a:spAutoFit/>
          </a:bodyPr>
          <a:lstStyle/>
          <a:p>
            <a:pPr algn="l">
              <a:spcAft>
                <a:spcPts val="0"/>
              </a:spcAft>
              <a:defRPr sz="1200" b="1">
                <a:solidFill>
                  <a:srgbClr val="0078D4"/>
                </a:solidFill>
                <a:latin typeface="Segoe UI Semibold"/>
              </a:defRPr>
            </a:pPr>
            <a:r>
              <a:t>Heft Toolchain</a:t>
            </a:r>
          </a:p>
        </p:txBody>
      </p:sp>
      <p:sp>
        <p:nvSpPr>
          <p:cNvPr id="10" name="TextBox 9"/>
          <p:cNvSpPr txBox="1"/>
          <p:nvPr/>
        </p:nvSpPr>
        <p:spPr>
          <a:xfrm>
            <a:off x="914400" y="3200400"/>
            <a:ext cx="3017520" cy="640080"/>
          </a:xfrm>
          <a:prstGeom prst="rect">
            <a:avLst/>
          </a:prstGeom>
          <a:noFill/>
        </p:spPr>
        <p:txBody>
          <a:bodyPr wrap="square">
            <a:spAutoFit/>
          </a:bodyPr>
          <a:lstStyle/>
          <a:p>
            <a:pPr algn="l">
              <a:spcAft>
                <a:spcPts val="0"/>
              </a:spcAft>
              <a:defRPr sz="1100" b="0">
                <a:solidFill>
                  <a:srgbClr val="B0B0B8"/>
                </a:solidFill>
                <a:latin typeface="Segoe UI"/>
              </a:defRPr>
            </a:pPr>
            <a:r>
              <a:t>SharePoint Framework with</a:t>
            </a:r>
            <a:br/>
            <a:r>
              <a:t>the new Heft build system</a:t>
            </a:r>
          </a:p>
        </p:txBody>
      </p:sp>
      <p:sp>
        <p:nvSpPr>
          <p:cNvPr id="11" name="Rounded Rectangle 10"/>
          <p:cNvSpPr/>
          <p:nvPr/>
        </p:nvSpPr>
        <p:spPr>
          <a:xfrm>
            <a:off x="4480560" y="2377440"/>
            <a:ext cx="3383280" cy="1645920"/>
          </a:xfrm>
          <a:prstGeom prst="roundRect">
            <a:avLst>
              <a:gd name="adj" fmla="val 6000"/>
            </a:avLst>
          </a:prstGeom>
          <a:solidFill>
            <a:srgbClr val="24242A"/>
          </a:solidFill>
          <a:ln w="12700">
            <a:solidFill>
              <a:srgbClr val="3A3A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56760" y="2415540"/>
            <a:ext cx="457200" cy="38100"/>
          </a:xfrm>
          <a:prstGeom prst="rect">
            <a:avLst/>
          </a:prstGeom>
          <a:solidFill>
            <a:srgbClr val="61DB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63440" y="2560320"/>
            <a:ext cx="3017520" cy="365760"/>
          </a:xfrm>
          <a:prstGeom prst="rect">
            <a:avLst/>
          </a:prstGeom>
          <a:noFill/>
        </p:spPr>
        <p:txBody>
          <a:bodyPr wrap="square">
            <a:spAutoFit/>
          </a:bodyPr>
          <a:lstStyle/>
          <a:p>
            <a:pPr algn="l">
              <a:spcAft>
                <a:spcPts val="0"/>
              </a:spcAft>
              <a:defRPr sz="1800" b="1">
                <a:solidFill>
                  <a:srgbClr val="FFFFFF"/>
                </a:solidFill>
                <a:latin typeface="Segoe UI"/>
              </a:defRPr>
            </a:pPr>
            <a:r>
              <a:t>React 17</a:t>
            </a:r>
          </a:p>
        </p:txBody>
      </p:sp>
      <p:sp>
        <p:nvSpPr>
          <p:cNvPr id="14" name="TextBox 13"/>
          <p:cNvSpPr txBox="1"/>
          <p:nvPr/>
        </p:nvSpPr>
        <p:spPr>
          <a:xfrm>
            <a:off x="4663440" y="2880360"/>
            <a:ext cx="3017520" cy="274320"/>
          </a:xfrm>
          <a:prstGeom prst="rect">
            <a:avLst/>
          </a:prstGeom>
          <a:noFill/>
        </p:spPr>
        <p:txBody>
          <a:bodyPr wrap="square">
            <a:spAutoFit/>
          </a:bodyPr>
          <a:lstStyle/>
          <a:p>
            <a:pPr algn="l">
              <a:spcAft>
                <a:spcPts val="0"/>
              </a:spcAft>
              <a:defRPr sz="1200" b="1">
                <a:solidFill>
                  <a:srgbClr val="61DBFB"/>
                </a:solidFill>
                <a:latin typeface="Segoe UI Semibold"/>
              </a:defRPr>
            </a:pPr>
            <a:r>
              <a:t>Component Library</a:t>
            </a:r>
          </a:p>
        </p:txBody>
      </p:sp>
      <p:sp>
        <p:nvSpPr>
          <p:cNvPr id="15" name="TextBox 14"/>
          <p:cNvSpPr txBox="1"/>
          <p:nvPr/>
        </p:nvSpPr>
        <p:spPr>
          <a:xfrm>
            <a:off x="4663440" y="3200400"/>
            <a:ext cx="3017520" cy="640080"/>
          </a:xfrm>
          <a:prstGeom prst="rect">
            <a:avLst/>
          </a:prstGeom>
          <a:noFill/>
        </p:spPr>
        <p:txBody>
          <a:bodyPr wrap="square">
            <a:spAutoFit/>
          </a:bodyPr>
          <a:lstStyle/>
          <a:p>
            <a:pPr algn="l">
              <a:spcAft>
                <a:spcPts val="0"/>
              </a:spcAft>
              <a:defRPr sz="1100" b="0">
                <a:solidFill>
                  <a:srgbClr val="B0B0B8"/>
                </a:solidFill>
                <a:latin typeface="Segoe UI"/>
              </a:defRPr>
            </a:pPr>
            <a:r>
              <a:t>Modern component architecture</a:t>
            </a:r>
            <a:br/>
            <a:r>
              <a:t>with hooks and functional components</a:t>
            </a:r>
          </a:p>
        </p:txBody>
      </p:sp>
      <p:sp>
        <p:nvSpPr>
          <p:cNvPr id="16" name="Rounded Rectangle 15"/>
          <p:cNvSpPr/>
          <p:nvPr/>
        </p:nvSpPr>
        <p:spPr>
          <a:xfrm>
            <a:off x="8229600" y="2377440"/>
            <a:ext cx="3383280" cy="1645920"/>
          </a:xfrm>
          <a:prstGeom prst="roundRect">
            <a:avLst>
              <a:gd name="adj" fmla="val 6000"/>
            </a:avLst>
          </a:prstGeom>
          <a:solidFill>
            <a:srgbClr val="24242A"/>
          </a:solidFill>
          <a:ln w="12700">
            <a:solidFill>
              <a:srgbClr val="3A3A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05800" y="2415540"/>
            <a:ext cx="457200" cy="38100"/>
          </a:xfrm>
          <a:prstGeom prst="rect">
            <a:avLst/>
          </a:prstGeom>
          <a:solidFill>
            <a:srgbClr val="886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12480" y="2560320"/>
            <a:ext cx="3017520" cy="365760"/>
          </a:xfrm>
          <a:prstGeom prst="rect">
            <a:avLst/>
          </a:prstGeom>
          <a:noFill/>
        </p:spPr>
        <p:txBody>
          <a:bodyPr wrap="square">
            <a:spAutoFit/>
          </a:bodyPr>
          <a:lstStyle/>
          <a:p>
            <a:pPr algn="l">
              <a:spcAft>
                <a:spcPts val="0"/>
              </a:spcAft>
              <a:defRPr sz="1800" b="1">
                <a:solidFill>
                  <a:srgbClr val="FFFFFF"/>
                </a:solidFill>
                <a:latin typeface="Segoe UI"/>
              </a:defRPr>
            </a:pPr>
            <a:r>
              <a:t>Fluent UI v9</a:t>
            </a:r>
          </a:p>
        </p:txBody>
      </p:sp>
      <p:sp>
        <p:nvSpPr>
          <p:cNvPr id="19" name="TextBox 18"/>
          <p:cNvSpPr txBox="1"/>
          <p:nvPr/>
        </p:nvSpPr>
        <p:spPr>
          <a:xfrm>
            <a:off x="8412480" y="2880360"/>
            <a:ext cx="3017520" cy="274320"/>
          </a:xfrm>
          <a:prstGeom prst="rect">
            <a:avLst/>
          </a:prstGeom>
          <a:noFill/>
        </p:spPr>
        <p:txBody>
          <a:bodyPr wrap="square">
            <a:spAutoFit/>
          </a:bodyPr>
          <a:lstStyle/>
          <a:p>
            <a:pPr algn="l">
              <a:spcAft>
                <a:spcPts val="0"/>
              </a:spcAft>
              <a:defRPr sz="1200" b="1">
                <a:solidFill>
                  <a:srgbClr val="8864D8"/>
                </a:solidFill>
                <a:latin typeface="Segoe UI Semibold"/>
              </a:defRPr>
            </a:pPr>
            <a:r>
              <a:t>Design System</a:t>
            </a:r>
          </a:p>
        </p:txBody>
      </p:sp>
      <p:sp>
        <p:nvSpPr>
          <p:cNvPr id="20" name="TextBox 19"/>
          <p:cNvSpPr txBox="1"/>
          <p:nvPr/>
        </p:nvSpPr>
        <p:spPr>
          <a:xfrm>
            <a:off x="8412480" y="3200400"/>
            <a:ext cx="3017520" cy="640080"/>
          </a:xfrm>
          <a:prstGeom prst="rect">
            <a:avLst/>
          </a:prstGeom>
          <a:noFill/>
        </p:spPr>
        <p:txBody>
          <a:bodyPr wrap="square">
            <a:spAutoFit/>
          </a:bodyPr>
          <a:lstStyle/>
          <a:p>
            <a:pPr algn="l">
              <a:spcAft>
                <a:spcPts val="0"/>
              </a:spcAft>
              <a:defRPr sz="1100" b="0">
                <a:solidFill>
                  <a:srgbClr val="B0B0B8"/>
                </a:solidFill>
                <a:latin typeface="Segoe UI"/>
              </a:defRPr>
            </a:pPr>
            <a:r>
              <a:t>100% Fluent 2 design tokens</a:t>
            </a:r>
            <a:br/>
            <a:r>
              <a:t>for consistent Microsoft look</a:t>
            </a:r>
          </a:p>
        </p:txBody>
      </p:sp>
      <p:sp>
        <p:nvSpPr>
          <p:cNvPr id="21" name="Rounded Rectangle 20"/>
          <p:cNvSpPr/>
          <p:nvPr/>
        </p:nvSpPr>
        <p:spPr>
          <a:xfrm>
            <a:off x="731520" y="4389120"/>
            <a:ext cx="3383280" cy="1645920"/>
          </a:xfrm>
          <a:prstGeom prst="roundRect">
            <a:avLst>
              <a:gd name="adj" fmla="val 6000"/>
            </a:avLst>
          </a:prstGeom>
          <a:solidFill>
            <a:srgbClr val="24242A"/>
          </a:solidFill>
          <a:ln w="12700">
            <a:solidFill>
              <a:srgbClr val="3A3A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7720" y="4427220"/>
            <a:ext cx="457200" cy="38100"/>
          </a:xfrm>
          <a:prstGeom prst="rect">
            <a:avLst/>
          </a:prstGeom>
          <a:solidFill>
            <a:srgbClr val="F28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4572000"/>
            <a:ext cx="3017520" cy="365760"/>
          </a:xfrm>
          <a:prstGeom prst="rect">
            <a:avLst/>
          </a:prstGeom>
          <a:noFill/>
        </p:spPr>
        <p:txBody>
          <a:bodyPr wrap="square">
            <a:spAutoFit/>
          </a:bodyPr>
          <a:lstStyle/>
          <a:p>
            <a:pPr algn="l">
              <a:spcAft>
                <a:spcPts val="0"/>
              </a:spcAft>
              <a:defRPr sz="1800" b="1">
                <a:solidFill>
                  <a:srgbClr val="FFFFFF"/>
                </a:solidFill>
                <a:latin typeface="Segoe UI"/>
              </a:defRPr>
            </a:pPr>
            <a:r>
              <a:t>Azure OpenAI</a:t>
            </a:r>
          </a:p>
        </p:txBody>
      </p:sp>
      <p:sp>
        <p:nvSpPr>
          <p:cNvPr id="24" name="TextBox 23"/>
          <p:cNvSpPr txBox="1"/>
          <p:nvPr/>
        </p:nvSpPr>
        <p:spPr>
          <a:xfrm>
            <a:off x="914400" y="4892040"/>
            <a:ext cx="3017520" cy="274320"/>
          </a:xfrm>
          <a:prstGeom prst="rect">
            <a:avLst/>
          </a:prstGeom>
          <a:noFill/>
        </p:spPr>
        <p:txBody>
          <a:bodyPr wrap="square">
            <a:spAutoFit/>
          </a:bodyPr>
          <a:lstStyle/>
          <a:p>
            <a:pPr algn="l">
              <a:spcAft>
                <a:spcPts val="0"/>
              </a:spcAft>
              <a:defRPr sz="1200" b="1">
                <a:solidFill>
                  <a:srgbClr val="F28A2E"/>
                </a:solidFill>
                <a:latin typeface="Segoe UI Semibold"/>
              </a:defRPr>
            </a:pPr>
            <a:r>
              <a:t>AI Intelligence</a:t>
            </a:r>
          </a:p>
        </p:txBody>
      </p:sp>
      <p:sp>
        <p:nvSpPr>
          <p:cNvPr id="25" name="TextBox 24"/>
          <p:cNvSpPr txBox="1"/>
          <p:nvPr/>
        </p:nvSpPr>
        <p:spPr>
          <a:xfrm>
            <a:off x="914400" y="5212080"/>
            <a:ext cx="3017520" cy="640080"/>
          </a:xfrm>
          <a:prstGeom prst="rect">
            <a:avLst/>
          </a:prstGeom>
          <a:noFill/>
        </p:spPr>
        <p:txBody>
          <a:bodyPr wrap="square">
            <a:spAutoFit/>
          </a:bodyPr>
          <a:lstStyle/>
          <a:p>
            <a:pPr algn="l">
              <a:spcAft>
                <a:spcPts val="0"/>
              </a:spcAft>
              <a:defRPr sz="1100" b="0">
                <a:solidFill>
                  <a:srgbClr val="B0B0B8"/>
                </a:solidFill>
                <a:latin typeface="Segoe UI"/>
              </a:defRPr>
            </a:pPr>
            <a:r>
              <a:t>Natural language to OData</a:t>
            </a:r>
            <a:br/>
            <a:r>
              <a:t>query translation</a:t>
            </a:r>
          </a:p>
        </p:txBody>
      </p:sp>
      <p:sp>
        <p:nvSpPr>
          <p:cNvPr id="26" name="Rounded Rectangle 25"/>
          <p:cNvSpPr/>
          <p:nvPr/>
        </p:nvSpPr>
        <p:spPr>
          <a:xfrm>
            <a:off x="4480560" y="4389120"/>
            <a:ext cx="3383280" cy="1645920"/>
          </a:xfrm>
          <a:prstGeom prst="roundRect">
            <a:avLst>
              <a:gd name="adj" fmla="val 6000"/>
            </a:avLst>
          </a:prstGeom>
          <a:solidFill>
            <a:srgbClr val="24242A"/>
          </a:solidFill>
          <a:ln w="12700">
            <a:solidFill>
              <a:srgbClr val="3A3A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556760" y="4427220"/>
            <a:ext cx="457200" cy="38100"/>
          </a:xfrm>
          <a:prstGeom prst="rect">
            <a:avLst/>
          </a:prstGeom>
          <a:solidFill>
            <a:srgbClr val="0F7B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663440" y="4572000"/>
            <a:ext cx="3017520" cy="365760"/>
          </a:xfrm>
          <a:prstGeom prst="rect">
            <a:avLst/>
          </a:prstGeom>
          <a:noFill/>
        </p:spPr>
        <p:txBody>
          <a:bodyPr wrap="square">
            <a:spAutoFit/>
          </a:bodyPr>
          <a:lstStyle/>
          <a:p>
            <a:pPr algn="l">
              <a:spcAft>
                <a:spcPts val="0"/>
              </a:spcAft>
              <a:defRPr sz="1800" b="1">
                <a:solidFill>
                  <a:srgbClr val="FFFFFF"/>
                </a:solidFill>
                <a:latin typeface="Segoe UI"/>
              </a:defRPr>
            </a:pPr>
            <a:r>
              <a:t>Microsoft Graph</a:t>
            </a:r>
          </a:p>
        </p:txBody>
      </p:sp>
      <p:sp>
        <p:nvSpPr>
          <p:cNvPr id="29" name="TextBox 28"/>
          <p:cNvSpPr txBox="1"/>
          <p:nvPr/>
        </p:nvSpPr>
        <p:spPr>
          <a:xfrm>
            <a:off x="4663440" y="4892040"/>
            <a:ext cx="3017520" cy="274320"/>
          </a:xfrm>
          <a:prstGeom prst="rect">
            <a:avLst/>
          </a:prstGeom>
          <a:noFill/>
        </p:spPr>
        <p:txBody>
          <a:bodyPr wrap="square">
            <a:spAutoFit/>
          </a:bodyPr>
          <a:lstStyle/>
          <a:p>
            <a:pPr algn="l">
              <a:spcAft>
                <a:spcPts val="0"/>
              </a:spcAft>
              <a:defRPr sz="1200" b="1">
                <a:solidFill>
                  <a:srgbClr val="0F7B0F"/>
                </a:solidFill>
                <a:latin typeface="Segoe UI Semibold"/>
              </a:defRPr>
            </a:pPr>
            <a:r>
              <a:t>Data Layer</a:t>
            </a:r>
          </a:p>
        </p:txBody>
      </p:sp>
      <p:sp>
        <p:nvSpPr>
          <p:cNvPr id="30" name="TextBox 29"/>
          <p:cNvSpPr txBox="1"/>
          <p:nvPr/>
        </p:nvSpPr>
        <p:spPr>
          <a:xfrm>
            <a:off x="4663440" y="5212080"/>
            <a:ext cx="3017520" cy="640080"/>
          </a:xfrm>
          <a:prstGeom prst="rect">
            <a:avLst/>
          </a:prstGeom>
          <a:noFill/>
        </p:spPr>
        <p:txBody>
          <a:bodyPr wrap="square">
            <a:spAutoFit/>
          </a:bodyPr>
          <a:lstStyle/>
          <a:p>
            <a:pPr algn="l">
              <a:spcAft>
                <a:spcPts val="0"/>
              </a:spcAft>
              <a:defRPr sz="1100" b="0">
                <a:solidFill>
                  <a:srgbClr val="B0B0B8"/>
                </a:solidFill>
                <a:latin typeface="Segoe UI"/>
              </a:defRPr>
            </a:pPr>
            <a:r>
              <a:t>Live user profiles, org hierarchy,</a:t>
            </a:r>
            <a:br/>
            <a:r>
              <a:t>and presence information</a:t>
            </a:r>
          </a:p>
        </p:txBody>
      </p:sp>
      <p:sp>
        <p:nvSpPr>
          <p:cNvPr id="31" name="Rounded Rectangle 30"/>
          <p:cNvSpPr/>
          <p:nvPr/>
        </p:nvSpPr>
        <p:spPr>
          <a:xfrm>
            <a:off x="8229600" y="4389120"/>
            <a:ext cx="3383280" cy="1645920"/>
          </a:xfrm>
          <a:prstGeom prst="roundRect">
            <a:avLst>
              <a:gd name="adj" fmla="val 6000"/>
            </a:avLst>
          </a:prstGeom>
          <a:solidFill>
            <a:srgbClr val="24242A"/>
          </a:solidFill>
          <a:ln w="12700">
            <a:solidFill>
              <a:srgbClr val="3A3A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305800" y="4427220"/>
            <a:ext cx="457200" cy="38100"/>
          </a:xfrm>
          <a:prstGeom prst="rect">
            <a:avLst/>
          </a:prstGeom>
          <a:solidFill>
            <a:srgbClr val="D473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412480" y="4572000"/>
            <a:ext cx="3017520" cy="365760"/>
          </a:xfrm>
          <a:prstGeom prst="rect">
            <a:avLst/>
          </a:prstGeom>
          <a:noFill/>
        </p:spPr>
        <p:txBody>
          <a:bodyPr wrap="square">
            <a:spAutoFit/>
          </a:bodyPr>
          <a:lstStyle/>
          <a:p>
            <a:pPr algn="l">
              <a:spcAft>
                <a:spcPts val="0"/>
              </a:spcAft>
              <a:defRPr sz="1800" b="1">
                <a:solidFill>
                  <a:srgbClr val="FFFFFF"/>
                </a:solidFill>
                <a:latin typeface="Segoe UI"/>
              </a:defRPr>
            </a:pPr>
            <a:r>
              <a:t>Jotai + IndexedDB</a:t>
            </a:r>
          </a:p>
        </p:txBody>
      </p:sp>
      <p:sp>
        <p:nvSpPr>
          <p:cNvPr id="34" name="TextBox 33"/>
          <p:cNvSpPr txBox="1"/>
          <p:nvPr/>
        </p:nvSpPr>
        <p:spPr>
          <a:xfrm>
            <a:off x="8412480" y="4892040"/>
            <a:ext cx="3017520" cy="274320"/>
          </a:xfrm>
          <a:prstGeom prst="rect">
            <a:avLst/>
          </a:prstGeom>
          <a:noFill/>
        </p:spPr>
        <p:txBody>
          <a:bodyPr wrap="square">
            <a:spAutoFit/>
          </a:bodyPr>
          <a:lstStyle/>
          <a:p>
            <a:pPr algn="l">
              <a:spcAft>
                <a:spcPts val="0"/>
              </a:spcAft>
              <a:defRPr sz="1200" b="1">
                <a:solidFill>
                  <a:srgbClr val="D473A8"/>
                </a:solidFill>
                <a:latin typeface="Segoe UI Semibold"/>
              </a:defRPr>
            </a:pPr>
            <a:r>
              <a:t>State &amp; Cache</a:t>
            </a:r>
          </a:p>
        </p:txBody>
      </p:sp>
      <p:sp>
        <p:nvSpPr>
          <p:cNvPr id="35" name="TextBox 34"/>
          <p:cNvSpPr txBox="1"/>
          <p:nvPr/>
        </p:nvSpPr>
        <p:spPr>
          <a:xfrm>
            <a:off x="8412480" y="5212080"/>
            <a:ext cx="3017520" cy="640080"/>
          </a:xfrm>
          <a:prstGeom prst="rect">
            <a:avLst/>
          </a:prstGeom>
          <a:noFill/>
        </p:spPr>
        <p:txBody>
          <a:bodyPr wrap="square">
            <a:spAutoFit/>
          </a:bodyPr>
          <a:lstStyle/>
          <a:p>
            <a:pPr algn="l">
              <a:spcAft>
                <a:spcPts val="0"/>
              </a:spcAft>
              <a:defRPr sz="1100" b="0">
                <a:solidFill>
                  <a:srgbClr val="B0B0B8"/>
                </a:solidFill>
                <a:latin typeface="Segoe UI"/>
              </a:defRPr>
            </a:pPr>
            <a:r>
              <a:t>Atomic state management with</a:t>
            </a:r>
            <a:br/>
            <a:r>
              <a:t>persistent local caching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B1B1F"/>
        </a:solidFill>
        <a:effectLst/>
      </p:bgPr>
    </p:bg>
    <p:spTree>
      <p:nvGrpSpPr>
        <p:cNvPr id="1" name=""/>
        <p:cNvGrpSpPr/>
        <p:nvPr/>
      </p:nvGrpSpPr>
      <p:grpSpPr/>
      <p:sp>
        <p:nvSpPr>
          <p:cNvPr id="2" name="Oval 1"/>
          <p:cNvSpPr/>
          <p:nvPr/>
        </p:nvSpPr>
        <p:spPr>
          <a:xfrm>
            <a:off x="-1828800" y="-1828800"/>
            <a:ext cx="7315200" cy="7315200"/>
          </a:xfrm>
          <a:prstGeom prst="ellipse">
            <a:avLst/>
          </a:prstGeom>
          <a:solidFill>
            <a:srgbClr val="2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315200" y="1828800"/>
            <a:ext cx="6400800" cy="6400800"/>
          </a:xfrm>
          <a:prstGeom prst="ellipse">
            <a:avLst/>
          </a:prstGeom>
          <a:solidFill>
            <a:srgbClr val="1E1E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28800" y="2286000"/>
            <a:ext cx="8534095" cy="914400"/>
          </a:xfrm>
          <a:prstGeom prst="rect">
            <a:avLst/>
          </a:prstGeom>
          <a:noFill/>
        </p:spPr>
        <p:txBody>
          <a:bodyPr wrap="square">
            <a:spAutoFit/>
          </a:bodyPr>
          <a:lstStyle/>
          <a:p>
            <a:pPr algn="ctr">
              <a:spcAft>
                <a:spcPts val="0"/>
              </a:spcAft>
              <a:defRPr sz="4400" b="1">
                <a:solidFill>
                  <a:srgbClr val="FFFFFF"/>
                </a:solidFill>
                <a:latin typeface="Segoe UI Light"/>
              </a:defRPr>
            </a:pPr>
            <a:r>
              <a:t>Let's See It in Action</a:t>
            </a:r>
          </a:p>
        </p:txBody>
      </p:sp>
      <p:sp>
        <p:nvSpPr>
          <p:cNvPr id="5" name="Rectangle 4"/>
          <p:cNvSpPr/>
          <p:nvPr/>
        </p:nvSpPr>
        <p:spPr>
          <a:xfrm>
            <a:off x="5029200" y="3383280"/>
            <a:ext cx="2133295" cy="381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828800" y="3749039"/>
            <a:ext cx="8534095" cy="548640"/>
          </a:xfrm>
          <a:prstGeom prst="rect">
            <a:avLst/>
          </a:prstGeom>
          <a:noFill/>
        </p:spPr>
        <p:txBody>
          <a:bodyPr wrap="square">
            <a:spAutoFit/>
          </a:bodyPr>
          <a:lstStyle/>
          <a:p>
            <a:pPr algn="ctr">
              <a:spcAft>
                <a:spcPts val="0"/>
              </a:spcAft>
              <a:defRPr sz="1800" b="0">
                <a:solidFill>
                  <a:srgbClr val="B0B0B8"/>
                </a:solidFill>
                <a:latin typeface="Segoe UI"/>
              </a:defRPr>
            </a:pPr>
            <a:r>
              <a:t>Live demo on SharePoint Online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B1B1F"/>
        </a:solidFill>
        <a:effectLst/>
      </p:bgPr>
    </p:bg>
    <p:spTree>
      <p:nvGrpSpPr>
        <p:cNvPr id="1" name=""/>
        <p:cNvGrpSpPr/>
        <p:nvPr/>
      </p:nvGrpSpPr>
      <p:grpSpPr/>
      <p:sp>
        <p:nvSpPr>
          <p:cNvPr id="3" name="Oval 2"/>
          <p:cNvSpPr/>
          <p:nvPr/>
        </p:nvSpPr>
        <p:spPr>
          <a:xfrm>
            <a:off x="-1371600" y="-1371600"/>
            <a:ext cx="6400800" cy="6400800"/>
          </a:xfrm>
          <a:prstGeom prst="ellipse">
            <a:avLst/>
          </a:prstGeom>
          <a:solidFill>
            <a:srgbClr val="2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229600" y="2286000"/>
            <a:ext cx="5486400" cy="5486400"/>
          </a:xfrm>
          <a:prstGeom prst="ellipse">
            <a:avLst/>
          </a:prstGeom>
          <a:solidFill>
            <a:srgbClr val="1E1E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Rectangle 1"/>
          <p:cNvSpPr/>
          <p:nvPr/>
        </p:nvSpPr>
        <p:spPr>
          <a:xfrm>
            <a:off x="0" y="0"/>
            <a:ext cx="12191695" cy="54864"/>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663440" y="1188720"/>
            <a:ext cx="2926080" cy="320040"/>
          </a:xfrm>
          <a:prstGeom prst="roundRect">
            <a:avLst>
              <a:gd name="adj" fmla="val 35000"/>
            </a:avLst>
          </a:prstGeom>
          <a:solidFill>
            <a:srgbClr val="0F7B0F"/>
          </a:solidFill>
          <a:ln>
            <a:noFill/>
          </a:ln>
        </p:spPr>
        <p:style>
          <a:lnRef idx="1">
            <a:schemeClr val="accent1"/>
          </a:lnRef>
          <a:fillRef idx="3">
            <a:schemeClr val="accent1"/>
          </a:fillRef>
          <a:effectRef idx="2">
            <a:schemeClr val="accent1"/>
          </a:effectRef>
          <a:fontRef idx="minor">
            <a:schemeClr val="lt1"/>
          </a:fontRef>
        </p:style>
        <p:txBody>
          <a:bodyPr rtlCol="0" anchor="ctr" wrap="none" lIns="72000" rIns="72000" tIns="0" bIns="0"/>
          <a:lstStyle/>
          <a:p>
            <a:pPr algn="ctr">
              <a:spcBef>
                <a:spcPts val="0"/>
              </a:spcBef>
              <a:spcAft>
                <a:spcPts val="0"/>
              </a:spcAft>
              <a:defRPr sz="1300" b="1">
                <a:solidFill>
                  <a:srgbClr val="FFFFFF"/>
                </a:solidFill>
                <a:latin typeface="Segoe UI Semibold"/>
              </a:defRPr>
            </a:pPr>
            <a:r>
              <a:t>LIVE DEMO COMPLETE</a:t>
            </a:r>
          </a:p>
        </p:txBody>
      </p:sp>
      <p:sp>
        <p:nvSpPr>
          <p:cNvPr id="6" name="TextBox 5"/>
          <p:cNvSpPr txBox="1"/>
          <p:nvPr/>
        </p:nvSpPr>
        <p:spPr>
          <a:xfrm>
            <a:off x="1828800" y="1920240"/>
            <a:ext cx="8534095" cy="914400"/>
          </a:xfrm>
          <a:prstGeom prst="rect">
            <a:avLst/>
          </a:prstGeom>
          <a:noFill/>
        </p:spPr>
        <p:txBody>
          <a:bodyPr wrap="square">
            <a:spAutoFit/>
          </a:bodyPr>
          <a:lstStyle/>
          <a:p>
            <a:pPr algn="ctr">
              <a:spcAft>
                <a:spcPts val="0"/>
              </a:spcAft>
              <a:defRPr sz="5200" b="1">
                <a:solidFill>
                  <a:srgbClr val="FFFFFF"/>
                </a:solidFill>
                <a:latin typeface="Segoe UI Light"/>
              </a:defRPr>
            </a:pPr>
            <a:r>
              <a:t>Thank You!</a:t>
            </a:r>
          </a:p>
        </p:txBody>
      </p:sp>
      <p:sp>
        <p:nvSpPr>
          <p:cNvPr id="7" name="Rectangle 6"/>
          <p:cNvSpPr/>
          <p:nvPr/>
        </p:nvSpPr>
        <p:spPr>
          <a:xfrm>
            <a:off x="5029200" y="3017520"/>
            <a:ext cx="2133295" cy="381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28800" y="3291840"/>
            <a:ext cx="8534095" cy="548640"/>
          </a:xfrm>
          <a:prstGeom prst="rect">
            <a:avLst/>
          </a:prstGeom>
          <a:noFill/>
        </p:spPr>
        <p:txBody>
          <a:bodyPr wrap="square">
            <a:spAutoFit/>
          </a:bodyPr>
          <a:lstStyle/>
          <a:p>
            <a:pPr algn="ctr">
              <a:spcAft>
                <a:spcPts val="0"/>
              </a:spcAft>
              <a:defRPr sz="1800" b="0">
                <a:solidFill>
                  <a:srgbClr val="B0B0B8"/>
                </a:solidFill>
                <a:latin typeface="Segoe UI"/>
              </a:defRPr>
            </a:pPr>
            <a:r>
              <a:t>Company Directory — AI-Powered People Directory for Microsoft 365</a:t>
            </a:r>
          </a:p>
        </p:txBody>
      </p:sp>
      <p:sp>
        <p:nvSpPr>
          <p:cNvPr id="9" name="TextBox 8"/>
          <p:cNvSpPr txBox="1"/>
          <p:nvPr/>
        </p:nvSpPr>
        <p:spPr>
          <a:xfrm>
            <a:off x="1828800" y="3931920"/>
            <a:ext cx="8534095" cy="457200"/>
          </a:xfrm>
          <a:prstGeom prst="rect">
            <a:avLst/>
          </a:prstGeom>
          <a:noFill/>
        </p:spPr>
        <p:txBody>
          <a:bodyPr wrap="square">
            <a:spAutoFit/>
          </a:bodyPr>
          <a:lstStyle/>
          <a:p>
            <a:pPr algn="ctr">
              <a:spcAft>
                <a:spcPts val="0"/>
              </a:spcAft>
              <a:defRPr sz="2200" b="1">
                <a:solidFill>
                  <a:srgbClr val="FFFFFF"/>
                </a:solidFill>
                <a:latin typeface="Segoe UI"/>
              </a:defRPr>
            </a:pPr>
            <a:r>
              <a:t>João Mendes</a:t>
            </a:r>
          </a:p>
        </p:txBody>
      </p:sp>
      <p:sp>
        <p:nvSpPr>
          <p:cNvPr id="10" name="Rounded Rectangle 9"/>
          <p:cNvSpPr/>
          <p:nvPr/>
        </p:nvSpPr>
        <p:spPr>
          <a:xfrm>
            <a:off x="3200400" y="4572000"/>
            <a:ext cx="5790895" cy="1463040"/>
          </a:xfrm>
          <a:prstGeom prst="roundRect">
            <a:avLst>
              <a:gd name="adj" fmla="val 6000"/>
            </a:avLst>
          </a:prstGeom>
          <a:solidFill>
            <a:srgbClr val="24242A"/>
          </a:solidFill>
          <a:ln w="12700">
            <a:solidFill>
              <a:srgbClr val="3A3A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74720" y="4709160"/>
            <a:ext cx="5242255" cy="1188720"/>
          </a:xfrm>
          <a:prstGeom prst="rect">
            <a:avLst/>
          </a:prstGeom>
          <a:noFill/>
        </p:spPr>
        <p:txBody>
          <a:bodyPr wrap="square">
            <a:spAutoFit/>
          </a:bodyPr>
          <a:lstStyle/>
          <a:p>
            <a:pPr algn="ctr">
              <a:spcAft>
                <a:spcPts val="800"/>
              </a:spcAft>
              <a:defRPr sz="1400" b="0">
                <a:solidFill>
                  <a:srgbClr val="47A1F5"/>
                </a:solidFill>
                <a:latin typeface="Segoe UI"/>
              </a:defRPr>
            </a:pPr>
            <a:r>
              <a:t>🌐  github.com/joaojmendes</a:t>
            </a:r>
          </a:p>
          <a:p>
            <a:pPr algn="ctr">
              <a:spcAft>
                <a:spcPts val="800"/>
              </a:spcAft>
              <a:defRPr sz="1400" b="0">
                <a:solidFill>
                  <a:srgbClr val="47A1F5"/>
                </a:solidFill>
                <a:latin typeface="Segoe UI"/>
              </a:defRPr>
            </a:pPr>
            <a:r>
              <a:t>💼  linkedin.com/in/intjoaomendes</a:t>
            </a:r>
          </a:p>
          <a:p>
            <a:pPr algn="ctr">
              <a:spcAft>
                <a:spcPts val="800"/>
              </a:spcAft>
              <a:defRPr sz="1400" b="0">
                <a:solidFill>
                  <a:srgbClr val="47A1F5"/>
                </a:solidFill>
                <a:latin typeface="Segoe UI"/>
              </a:defRPr>
            </a:pPr>
            <a:r>
              <a:t>𝕏  @joaojmendes</a:t>
            </a:r>
          </a:p>
        </p:txBody>
      </p:sp>
      <p:sp>
        <p:nvSpPr>
          <p:cNvPr id="12" name="Rounded Rectangle 11"/>
          <p:cNvSpPr/>
          <p:nvPr/>
        </p:nvSpPr>
        <p:spPr>
          <a:xfrm>
            <a:off x="4663440" y="6309360"/>
            <a:ext cx="2926080" cy="320040"/>
          </a:xfrm>
          <a:prstGeom prst="roundRect">
            <a:avLst>
              <a:gd name="adj" fmla="val 35000"/>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wrap="none" lIns="72000" rIns="72000" tIns="0" bIns="0"/>
          <a:lstStyle/>
          <a:p>
            <a:pPr algn="ctr">
              <a:spcBef>
                <a:spcPts val="0"/>
              </a:spcBef>
              <a:spcAft>
                <a:spcPts val="0"/>
              </a:spcAft>
              <a:defRPr sz="1200" b="1">
                <a:solidFill>
                  <a:srgbClr val="FFFFFF"/>
                </a:solidFill>
                <a:latin typeface="Segoe UI Semibold"/>
              </a:defRPr>
            </a:pPr>
            <a:r>
              <a:t>SHAREPOINT HACKATHON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